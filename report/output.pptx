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开场页，简要介绍课题定位、成员信息与关键词。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说明课题的现实需求与问题场景。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引出网页 Agent 的必要性。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用任务定义统一后续系统设计与实验指标。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强调开放网页信息检索是主场景，表单填写是亮点场景。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不是逐篇展开，而是说明本项目的研究定位。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这一页用来回答方法选择的合理性。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五层架构：用户层、插件执行层、多模态决策层、本地记忆层、HITL 安全网关。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强调系统是观测-决策-执行-验证闭环。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体现工程成熟度和可恢复性。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适合作为答辩现场主演示。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这是系统亮点页，强调 Semantic Form Memory 与 HITL。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弱化绕过登录，强调识别与接管。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若老师追问，强调效率和可维护性。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突出自建任务集和任务分层。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体现方案的研究性和量化评估意识。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回答老师最关心的可行性问题。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收束全文，回到项目价值与预期贡献。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/>
        </p:txBody>
      </p:sp>
      <p:sp>
        <p:nvSpPr>
          <p:cNvPr id="3" name="Subtitle 2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/>
        </p:txBody>
      </p:sp>
      <p:sp>
        <p:nvSpPr>
          <p:cNvPr id="4" name="Date Placeholder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Slide Number Placeholder 5"/>
          <p:cNvSpPr/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66750" y="876300"/>
            <a:ext cx="10858500" cy="510540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876300"/>
            <a:ext cx="190500" cy="5105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1181100"/>
            <a:ext cx="381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网页多模态 Agent 开题汇报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66800" y="1676400"/>
            <a:ext cx="78105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基于浏览器原生插件与多模态大模型的网页 Agent 设计与实现</a:t>
            </a:r>
            <a:endParaRPr sz="2850" b="1">
              <a:solidFill>
                <a:srgbClr val="0F172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85850" y="3143250"/>
            <a:ext cx="7048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面向真实网页环境，实现“看得懂、点得准、关键步骤可控”的</a:t>
            </a:r>
            <a:endParaRPr sz="1650" b="0">
              <a:solidFill>
                <a:srgbClr val="334155"/>
              </a:solidFill>
            </a:endParaRPr>
          </a:p>
          <a:p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Web Agent</a:t>
            </a:r>
            <a:endParaRPr sz="1650" b="0">
              <a:solidFill>
                <a:srgbClr val="334155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66800" y="426720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CCFBF1"/>
          </a:solidFill>
          <a:ln w="0">
            <a:solidFill>
              <a:srgbClr val="CCFBF1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81100" y="43243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浏览器插件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2552700" y="426720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 w="0">
            <a:solidFill>
              <a:srgbClr val="DBEAF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667000" y="43243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多模态理解</a:t>
            </a:r>
            <a:endParaRPr sz="975" b="1">
              <a:solidFill>
                <a:srgbClr val="1D4ED8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210050" y="426720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FEF3C7"/>
          </a:solidFill>
          <a:ln w="0">
            <a:solidFill>
              <a:srgbClr val="FEF3C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324350" y="43243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HITL</a:t>
            </a:r>
            <a:endParaRPr sz="975" b="1">
              <a:solidFill>
                <a:srgbClr val="B45309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305800" y="1695450"/>
            <a:ext cx="2647950" cy="249555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305800" y="1695450"/>
            <a:ext cx="264795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477250" y="1866900"/>
            <a:ext cx="2305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项目关键词</a:t>
            </a:r>
            <a:endParaRPr sz="1350" b="1">
              <a:solidFill>
                <a:srgbClr val="0F766E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477250" y="2247900"/>
            <a:ext cx="23050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真实网页环境</a:t>
            </a:r>
            <a:endParaRPr sz="1350" b="0">
              <a:solidFill>
                <a:srgbClr val="334155"/>
              </a:solidFill>
            </a:endParaRPr>
          </a:p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视觉理解与动作执行</a:t>
            </a:r>
            <a:endParaRPr sz="1350" b="0">
              <a:solidFill>
                <a:srgbClr val="334155"/>
              </a:solidFill>
            </a:endParaRPr>
          </a:p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跨站点任务泛化</a:t>
            </a:r>
            <a:endParaRPr sz="1350" b="0">
              <a:solidFill>
                <a:srgbClr val="334155"/>
              </a:solidFill>
            </a:endParaRPr>
          </a:p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人机协同安全控制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305800" y="4362450"/>
            <a:ext cx="26479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305800" y="4362450"/>
            <a:ext cx="2647950" cy="7620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477250" y="4673600"/>
            <a:ext cx="259143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课程：多模态</a:t>
            </a:r>
            <a:r>
              <a:rPr lang="zh-CN" sz="1350" b="0">
                <a:solidFill>
                  <a:srgbClr val="334155"/>
                </a:solidFill>
              </a:rPr>
              <a:t>大模型原理与应用</a:t>
            </a:r>
            <a:endParaRPr sz="1350" b="0">
              <a:solidFill>
                <a:srgbClr val="334155"/>
              </a:solidFill>
            </a:endParaRPr>
          </a:p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组员：待填写</a:t>
            </a:r>
            <a:endParaRPr sz="1350" b="0">
              <a:solidFill>
                <a:srgbClr val="334155"/>
              </a:solidFill>
            </a:endParaRPr>
          </a:p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指导教师：待填写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09600" y="64579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09600" y="655320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可直接替换课程名、成员和教师信息</a:t>
            </a:r>
            <a:endParaRPr sz="8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2385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网页多模态 Agent 开题汇报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85800"/>
            <a:ext cx="885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研究背景：为什么需要网页 Agent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763250" y="495300"/>
            <a:ext cx="857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02</a:t>
            </a:r>
            <a:endParaRPr sz="2550" b="1">
              <a:solidFill>
                <a:srgbClr val="0F766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00100" y="156210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CCFBF1"/>
          </a:solidFill>
          <a:ln w="0">
            <a:solidFill>
              <a:srgbClr val="CCFB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16192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核心内容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876300" y="219075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85850" y="2095500"/>
            <a:ext cx="9886950" cy="3261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现实中大量任务依赖网页完成，如校招网申、问卷填报、官网信息检索与资料整理。</a:t>
            </a:r>
            <a:endParaRPr sz="1800" b="0">
              <a:solidFill>
                <a:srgbClr val="334155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876300" y="2650236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085850" y="2554986"/>
            <a:ext cx="9886950" cy="3261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这些任务往往步骤多、页面结构异构、人工重复劳动大。</a:t>
            </a:r>
            <a:endParaRPr sz="1800" b="0">
              <a:solidFill>
                <a:srgbClr val="334155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876300" y="3109722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85850" y="3014472"/>
            <a:ext cx="9886950" cy="3261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因此需要一个能够理解网页界面并自动执行操作的智能体。</a:t>
            </a:r>
            <a:endParaRPr sz="1800" b="0">
              <a:solidFill>
                <a:srgbClr val="334155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64579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655320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说明课题的现实需求与问题场景。</a:t>
            </a:r>
            <a:endParaRPr sz="8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2385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网页多模态 Agent 开题汇报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85800"/>
            <a:ext cx="885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问题提出：传统自动化为什么不够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763250" y="495300"/>
            <a:ext cx="857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03</a:t>
            </a:r>
            <a:endParaRPr sz="2550" b="1">
              <a:solidFill>
                <a:srgbClr val="0F766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00100" y="156210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CCFBF1"/>
          </a:solidFill>
          <a:ln w="0">
            <a:solidFill>
              <a:srgbClr val="CCFB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16192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传统自动化 vs 网页 Agent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00100" y="2552700"/>
            <a:ext cx="5086350" cy="276225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2552700"/>
            <a:ext cx="5086350" cy="76200"/>
          </a:xfrm>
          <a:prstGeom prst="rect">
            <a:avLst/>
          </a:prstGeom>
          <a:solidFill>
            <a:srgbClr val="BE123C"/>
          </a:solidFill>
          <a:ln w="0">
            <a:solidFill>
              <a:srgbClr val="BE123C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2724150"/>
            <a:ext cx="4743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E123C"/>
                </a:solidFill>
              </a:defRPr>
            </a:pPr>
            <a:r>
              <a:rPr sz="1350" b="1">
                <a:solidFill>
                  <a:srgbClr val="BE123C"/>
                </a:solidFill>
              </a:rPr>
              <a:t>传统自动化</a:t>
            </a:r>
            <a:endParaRPr sz="1350" b="1">
              <a:solidFill>
                <a:srgbClr val="BE123C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71550" y="3105150"/>
            <a:ext cx="4743450" cy="2076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依赖固定规则</a:t>
            </a:r>
            <a:endParaRPr sz="1350" b="0">
              <a:solidFill>
                <a:srgbClr val="334155"/>
              </a:solidFill>
            </a:endParaRPr>
          </a:p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跨站泛化弱</a:t>
            </a:r>
            <a:endParaRPr sz="1350" b="0">
              <a:solidFill>
                <a:srgbClr val="334155"/>
              </a:solidFill>
            </a:endParaRPr>
          </a:p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登录态处理差</a:t>
            </a:r>
            <a:endParaRPr sz="1350" b="0">
              <a:solidFill>
                <a:srgbClr val="334155"/>
              </a:solidFill>
            </a:endParaRPr>
          </a:p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缺少安全兜底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305550" y="2552700"/>
            <a:ext cx="5086350" cy="276225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305550" y="2552700"/>
            <a:ext cx="508635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477000" y="2724150"/>
            <a:ext cx="4743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网页 Agent</a:t>
            </a:r>
            <a:endParaRPr sz="1350" b="1">
              <a:solidFill>
                <a:srgbClr val="0F766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77000" y="3105150"/>
            <a:ext cx="4743450" cy="2076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视觉理解页面</a:t>
            </a:r>
            <a:endParaRPr sz="1350" b="0">
              <a:solidFill>
                <a:srgbClr val="334155"/>
              </a:solidFill>
            </a:endParaRPr>
          </a:p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支持多步决策</a:t>
            </a:r>
            <a:endParaRPr sz="1350" b="0">
              <a:solidFill>
                <a:srgbClr val="334155"/>
              </a:solidFill>
            </a:endParaRPr>
          </a:p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继承真实浏览器环境</a:t>
            </a:r>
            <a:endParaRPr sz="1350" b="0">
              <a:solidFill>
                <a:srgbClr val="334155"/>
              </a:solidFill>
            </a:endParaRPr>
          </a:p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关键步骤可人工接管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00100" y="5619750"/>
            <a:ext cx="10572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我们要解决的不是“写脚本点按钮”，而是“让系统像人一样理解网页并采取行动”。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64579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655320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引出网页 Agent 的必要性。</a:t>
            </a:r>
            <a:endParaRPr sz="8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2385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网页多模态 Agent 开题汇报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85800"/>
            <a:ext cx="885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任务定义与研究目标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763250" y="495300"/>
            <a:ext cx="857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04</a:t>
            </a:r>
            <a:endParaRPr sz="2550" b="1">
              <a:solidFill>
                <a:srgbClr val="0F766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00100" y="156210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CCFBF1"/>
          </a:solidFill>
          <a:ln w="0">
            <a:solidFill>
              <a:srgbClr val="CCFB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16192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核心内容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876300" y="219075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85850" y="2095500"/>
            <a:ext cx="9886950" cy="3261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输入：自然语言指令、当前网页观测、本地知识库。</a:t>
            </a:r>
            <a:endParaRPr sz="1800" b="0">
              <a:solidFill>
                <a:srgbClr val="334155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876300" y="2650236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085850" y="2554986"/>
            <a:ext cx="9886950" cy="3261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输出：导航、点击、输入、滚动、信息汇总或人工确认请求。</a:t>
            </a:r>
            <a:endParaRPr sz="1800" b="0">
              <a:solidFill>
                <a:srgbClr val="334155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876300" y="3109722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85850" y="3014472"/>
            <a:ext cx="9886950" cy="3261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目标一：在真实网页环境下完成多步任务。</a:t>
            </a:r>
            <a:endParaRPr sz="1800" b="0">
              <a:solidFill>
                <a:srgbClr val="334155"/>
              </a:solidFill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876300" y="3569208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85850" y="3473958"/>
            <a:ext cx="9886950" cy="3261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目标二：在跨站点场景中保持一定泛化能力。</a:t>
            </a:r>
            <a:endParaRPr sz="1800" b="0">
              <a:solidFill>
                <a:srgbClr val="334155"/>
              </a:solidFill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876300" y="4028694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85850" y="3933444"/>
            <a:ext cx="9886950" cy="3261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目标三：对高风险操作提供人机协同控制。</a:t>
            </a:r>
            <a:endParaRPr sz="1800" b="0">
              <a:solidFill>
                <a:srgbClr val="334155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64579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655320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用任务定义统一后续系统设计与实验指标。</a:t>
            </a:r>
            <a:endParaRPr sz="8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2385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网页多模态 Agent 开题汇报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85800"/>
            <a:ext cx="885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三类核心应用场景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763250" y="495300"/>
            <a:ext cx="857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05</a:t>
            </a:r>
            <a:endParaRPr sz="2550" b="1">
              <a:solidFill>
                <a:srgbClr val="0F766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00100" y="156210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CCFBF1"/>
          </a:solidFill>
          <a:ln w="0">
            <a:solidFill>
              <a:srgbClr val="CCFB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16192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重点模块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00100" y="2228850"/>
            <a:ext cx="34036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2228850"/>
            <a:ext cx="34036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24003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场景 A</a:t>
            </a:r>
            <a:endParaRPr sz="1350" b="1">
              <a:solidFill>
                <a:srgbClr val="0F766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71550" y="2781300"/>
            <a:ext cx="3060700" cy="169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登录后信息收集，如旅游、租房、社区内容整理。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394200" y="2228850"/>
            <a:ext cx="34036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394200" y="2228850"/>
            <a:ext cx="3403600" cy="7620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565650" y="24003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场景 B</a:t>
            </a:r>
            <a:endParaRPr sz="1350" b="1">
              <a:solidFill>
                <a:srgbClr val="1D4ED8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65650" y="2781300"/>
            <a:ext cx="3060700" cy="169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基于知识库的问卷与简历半自动填写。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988300" y="2228850"/>
            <a:ext cx="34036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988300" y="2228850"/>
            <a:ext cx="3403600" cy="7620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159750" y="24003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场景 C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59750" y="2781300"/>
            <a:ext cx="3060700" cy="169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多开放网页的信息检索与汇总，如高校官网招生信息。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9600" y="64579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09600" y="655320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强调开放网页信息检索是主场景，表单填写是亮点场景。</a:t>
            </a:r>
            <a:endParaRPr sz="8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2385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网页多模态 Agent 开题汇报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85800"/>
            <a:ext cx="885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相关工作调研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763250" y="495300"/>
            <a:ext cx="857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06</a:t>
            </a:r>
            <a:endParaRPr sz="2550" b="1">
              <a:solidFill>
                <a:srgbClr val="0F766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00100" y="156210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CCFBF1"/>
          </a:solidFill>
          <a:ln w="0">
            <a:solidFill>
              <a:srgbClr val="CCFB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16192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重点模块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00100" y="1885950"/>
            <a:ext cx="3403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1885950"/>
            <a:ext cx="34036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20574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Mind2Web</a:t>
            </a:r>
            <a:endParaRPr sz="1350" b="1">
              <a:solidFill>
                <a:srgbClr val="0F766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71550" y="2438400"/>
            <a:ext cx="30607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真实网站上的通用 Web Agent 数据集，为跨站任务提供</a:t>
            </a:r>
            <a:endParaRPr sz="1350" b="0">
              <a:solidFill>
                <a:srgbClr val="334155"/>
              </a:solidFill>
            </a:endParaRPr>
          </a:p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benchmark 依据。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394200" y="1885950"/>
            <a:ext cx="3403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394200" y="1885950"/>
            <a:ext cx="3403600" cy="7620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565650" y="20574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WebVoyager</a:t>
            </a:r>
            <a:endParaRPr sz="1350" b="1">
              <a:solidFill>
                <a:srgbClr val="1D4ED8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65650" y="2438400"/>
            <a:ext cx="30607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端到端多模态网页 Agent，说明截图驱动交互路线可行。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988300" y="1885950"/>
            <a:ext cx="3403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988300" y="1885950"/>
            <a:ext cx="3403600" cy="7620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159750" y="20574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SeeAct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59750" y="2438400"/>
            <a:ext cx="30607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强调网页 grounding 问题，是元素定位和动作执行的关键</a:t>
            </a:r>
            <a:endParaRPr sz="1350" b="0">
              <a:solidFill>
                <a:srgbClr val="334155"/>
              </a:solidFill>
            </a:endParaRPr>
          </a:p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00100" y="3752850"/>
            <a:ext cx="3403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00100" y="3752850"/>
            <a:ext cx="3403600" cy="76200"/>
          </a:xfrm>
          <a:prstGeom prst="rect">
            <a:avLst/>
          </a:prstGeom>
          <a:solidFill>
            <a:srgbClr val="BE123C"/>
          </a:solidFill>
          <a:ln w="0">
            <a:solidFill>
              <a:srgbClr val="BE123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71550" y="39243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E123C"/>
                </a:solidFill>
              </a:defRPr>
            </a:pPr>
            <a:r>
              <a:rPr sz="1350" b="1">
                <a:solidFill>
                  <a:srgbClr val="BE123C"/>
                </a:solidFill>
              </a:rPr>
              <a:t>AppAgent</a:t>
            </a:r>
            <a:endParaRPr sz="1350" b="1">
              <a:solidFill>
                <a:srgbClr val="BE123C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71550" y="4305300"/>
            <a:ext cx="30607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多模态 GUI Agent 的动作范式，对网页 Agent</a:t>
            </a:r>
            <a:endParaRPr sz="1350" b="0">
              <a:solidFill>
                <a:srgbClr val="334155"/>
              </a:solidFill>
            </a:endParaRPr>
          </a:p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有直接启发。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394200" y="3752850"/>
            <a:ext cx="3403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394200" y="3752850"/>
            <a:ext cx="34036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565650" y="39243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BrowserGym</a:t>
            </a:r>
            <a:endParaRPr sz="1350" b="1">
              <a:solidFill>
                <a:srgbClr val="0F766E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565650" y="4305300"/>
            <a:ext cx="30607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提供统一的 Web Agent 评测框架和实验管理方法。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7988300" y="3752850"/>
            <a:ext cx="3403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988300" y="3752850"/>
            <a:ext cx="3403600" cy="7620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159750" y="39243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OSWorld</a:t>
            </a:r>
            <a:endParaRPr sz="1350" b="1">
              <a:solidFill>
                <a:srgbClr val="1D4ED8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159750" y="4305300"/>
            <a:ext cx="30607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总结开放 GUI 环境中的常见失败模式与评估难点。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64579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09600" y="655320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不是逐篇展开，而是说明本项目的研究定位。</a:t>
            </a:r>
            <a:endParaRPr sz="8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2385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网页多模态 Agent 开题汇报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85800"/>
            <a:ext cx="885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现有方案评估与我们的定位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763250" y="495300"/>
            <a:ext cx="857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07</a:t>
            </a:r>
            <a:endParaRPr sz="2550" b="1">
              <a:solidFill>
                <a:srgbClr val="0F766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00100" y="156210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CCFBF1"/>
          </a:solidFill>
          <a:ln w="0">
            <a:solidFill>
              <a:srgbClr val="CCFB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16192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重点模块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00100" y="2228850"/>
            <a:ext cx="34036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2228850"/>
            <a:ext cx="34036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24003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不是纯脚本</a:t>
            </a:r>
            <a:endParaRPr sz="1350" b="1">
              <a:solidFill>
                <a:srgbClr val="0F766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71550" y="2781300"/>
            <a:ext cx="3060700" cy="169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避免强依赖固定 XPath 或 CSS Selector。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394200" y="2228850"/>
            <a:ext cx="34036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394200" y="2228850"/>
            <a:ext cx="3403600" cy="7620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565650" y="24003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不是纯视觉</a:t>
            </a:r>
            <a:endParaRPr sz="1350" b="1">
              <a:solidFill>
                <a:srgbClr val="1D4ED8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65650" y="2781300"/>
            <a:ext cx="3060700" cy="169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通过轻量结构信号提升落点稳定性。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988300" y="2228850"/>
            <a:ext cx="34036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988300" y="2228850"/>
            <a:ext cx="3403600" cy="7620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159750" y="24003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面向课程交付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59750" y="2781300"/>
            <a:ext cx="3060700" cy="169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优先保证可演示、可评测、可答辩。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9600" y="64579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09600" y="655320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这一页用来回答方法选择的合理性。</a:t>
            </a:r>
            <a:endParaRPr sz="8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2385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网页多模态 Agent 开题汇报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85800"/>
            <a:ext cx="885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系统总体架构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763250" y="495300"/>
            <a:ext cx="857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08</a:t>
            </a:r>
            <a:endParaRPr sz="2550" b="1">
              <a:solidFill>
                <a:srgbClr val="0F766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611505" y="114300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CCFBF1"/>
          </a:solidFill>
          <a:ln w="0">
            <a:solidFill>
              <a:srgbClr val="CCFB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25805" y="12001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五层结构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257300" y="1695450"/>
            <a:ext cx="9677400" cy="742950"/>
          </a:xfrm>
          <a:prstGeom prst="roundRect">
            <a:avLst>
              <a:gd name="adj" fmla="val 10256"/>
            </a:avLst>
          </a:prstGeom>
          <a:solidFill>
            <a:srgbClr val="CCFBF1"/>
          </a:solidFill>
          <a:ln w="13335">
            <a:solidFill>
              <a:srgbClr val="0F766E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543050" y="18478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用户层</a:t>
            </a:r>
            <a:endParaRPr sz="1500" b="1">
              <a:solidFill>
                <a:srgbClr val="0F766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752850" y="1847850"/>
            <a:ext cx="685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任务指令 / 人工确认</a:t>
            </a:r>
            <a:endParaRPr sz="1500" b="0">
              <a:solidFill>
                <a:srgbClr val="0F172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905500" y="24765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↓</a:t>
            </a:r>
            <a:endParaRPr sz="1800" b="1">
              <a:solidFill>
                <a:srgbClr val="64748B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1257300" y="2590800"/>
            <a:ext cx="9677400" cy="742950"/>
          </a:xfrm>
          <a:prstGeom prst="roundRect">
            <a:avLst>
              <a:gd name="adj" fmla="val 10256"/>
            </a:avLst>
          </a:prstGeom>
          <a:solidFill>
            <a:srgbClr val="DBEAFE"/>
          </a:solidFill>
          <a:ln w="13335">
            <a:solidFill>
              <a:srgbClr val="1D4ED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543050" y="27432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D4ED8"/>
                </a:solidFill>
              </a:defRPr>
            </a:pPr>
            <a:r>
              <a:rPr sz="1500" b="1">
                <a:solidFill>
                  <a:srgbClr val="1D4ED8"/>
                </a:solidFill>
              </a:rPr>
              <a:t>插件执行层</a:t>
            </a:r>
            <a:endParaRPr sz="1500" b="1">
              <a:solidFill>
                <a:srgbClr val="1D4ED8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752850" y="2743200"/>
            <a:ext cx="685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截图采集 / 动作执行 / 页面注入 / 状态机</a:t>
            </a:r>
            <a:endParaRPr sz="1500" b="0">
              <a:solidFill>
                <a:srgbClr val="0F172A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905500" y="33718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↓</a:t>
            </a:r>
            <a:endParaRPr sz="1800" b="1">
              <a:solidFill>
                <a:srgbClr val="64748B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1257300" y="3486150"/>
            <a:ext cx="9677400" cy="742950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 w="13335">
            <a:solidFill>
              <a:srgbClr val="B45309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543050" y="36385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B45309"/>
                </a:solidFill>
              </a:defRPr>
            </a:pPr>
            <a:r>
              <a:rPr sz="1500" b="1">
                <a:solidFill>
                  <a:srgbClr val="B45309"/>
                </a:solidFill>
              </a:rPr>
              <a:t>多模态决策层</a:t>
            </a:r>
            <a:endParaRPr sz="1500" b="1">
              <a:solidFill>
                <a:srgbClr val="B45309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752850" y="3638550"/>
            <a:ext cx="685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Planner / Actor / Critic / Summarizer</a:t>
            </a:r>
            <a:endParaRPr sz="1500" b="0">
              <a:solidFill>
                <a:srgbClr val="0F172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905500" y="42672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↓</a:t>
            </a:r>
            <a:endParaRPr sz="1800" b="1">
              <a:solidFill>
                <a:srgbClr val="64748B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1257300" y="4381500"/>
            <a:ext cx="9677400" cy="742950"/>
          </a:xfrm>
          <a:prstGeom prst="roundRect">
            <a:avLst>
              <a:gd name="adj" fmla="val 10256"/>
            </a:avLst>
          </a:prstGeom>
          <a:solidFill>
            <a:srgbClr val="FFE4E6"/>
          </a:solidFill>
          <a:ln w="13335">
            <a:solidFill>
              <a:srgbClr val="BE123C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543050" y="45339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BE123C"/>
                </a:solidFill>
              </a:defRPr>
            </a:pPr>
            <a:r>
              <a:rPr sz="1500" b="1">
                <a:solidFill>
                  <a:srgbClr val="BE123C"/>
                </a:solidFill>
              </a:rPr>
              <a:t>本地记忆层</a:t>
            </a:r>
            <a:endParaRPr sz="1500" b="1">
              <a:solidFill>
                <a:srgbClr val="BE123C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752850" y="4533900"/>
            <a:ext cx="685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简历 JSON / 字段映射 / 日志 / 用户偏好</a:t>
            </a:r>
            <a:endParaRPr sz="1500" b="0">
              <a:solidFill>
                <a:srgbClr val="0F172A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905500" y="51625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↓</a:t>
            </a:r>
            <a:endParaRPr sz="1800" b="1">
              <a:solidFill>
                <a:srgbClr val="64748B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1257300" y="5276850"/>
            <a:ext cx="9677400" cy="742950"/>
          </a:xfrm>
          <a:prstGeom prst="roundRect">
            <a:avLst>
              <a:gd name="adj" fmla="val 10256"/>
            </a:avLst>
          </a:prstGeom>
          <a:solidFill>
            <a:srgbClr val="CCFBF1"/>
          </a:solidFill>
          <a:ln w="13335">
            <a:solidFill>
              <a:srgbClr val="0F766E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543050" y="5429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HITL 安全网关</a:t>
            </a:r>
            <a:endParaRPr sz="1500" b="1">
              <a:solidFill>
                <a:srgbClr val="0F766E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752850" y="5429250"/>
            <a:ext cx="685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登录提醒 / 缺失字段 / 最终提交确认</a:t>
            </a:r>
            <a:endParaRPr sz="1500" b="0">
              <a:solidFill>
                <a:srgbClr val="0F172A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09600" y="64579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09600" y="655320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五层架构：用户层、插件执行层、多模态决策层、本地记忆层、HITL 安全网关。</a:t>
            </a:r>
            <a:endParaRPr sz="8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2385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网页多模态 Agent 开题汇报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85800"/>
            <a:ext cx="885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关键模块设计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763250" y="495300"/>
            <a:ext cx="857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09</a:t>
            </a:r>
            <a:endParaRPr sz="2550" b="1">
              <a:solidFill>
                <a:srgbClr val="0F766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00100" y="156210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CCFBF1"/>
          </a:solidFill>
          <a:ln w="0">
            <a:solidFill>
              <a:srgbClr val="CCFB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16192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重点模块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00100" y="2228850"/>
            <a:ext cx="3403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2228850"/>
            <a:ext cx="34036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24003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感知模块</a:t>
            </a:r>
            <a:endParaRPr sz="1350" b="1">
              <a:solidFill>
                <a:srgbClr val="0F766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71550" y="2781300"/>
            <a:ext cx="30607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收集视口截图、URL、页面标题、轻量 DOM 与 OCR</a:t>
            </a:r>
            <a:endParaRPr sz="1350" b="0">
              <a:solidFill>
                <a:srgbClr val="334155"/>
              </a:solidFill>
            </a:endParaRPr>
          </a:p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文本。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394200" y="2228850"/>
            <a:ext cx="3403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394200" y="2228850"/>
            <a:ext cx="3403600" cy="7620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565650" y="24003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决策模块</a:t>
            </a:r>
            <a:endParaRPr sz="1350" b="1">
              <a:solidFill>
                <a:srgbClr val="1D4ED8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65650" y="2781300"/>
            <a:ext cx="30607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负责任务拆解、页面理解、动作规划和结果总结。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988300" y="2228850"/>
            <a:ext cx="3403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988300" y="2228850"/>
            <a:ext cx="3403600" cy="7620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159750" y="24003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执行模块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59750" y="2781300"/>
            <a:ext cx="30607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执行点击、输入、滚动、悬停、等待和页面注入。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00100" y="4095750"/>
            <a:ext cx="3403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00100" y="4095750"/>
            <a:ext cx="3403600" cy="76200"/>
          </a:xfrm>
          <a:prstGeom prst="rect">
            <a:avLst/>
          </a:prstGeom>
          <a:solidFill>
            <a:srgbClr val="BE123C"/>
          </a:solidFill>
          <a:ln w="0">
            <a:solidFill>
              <a:srgbClr val="BE123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71550" y="42672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E123C"/>
                </a:solidFill>
              </a:defRPr>
            </a:pPr>
            <a:r>
              <a:rPr sz="1350" b="1">
                <a:solidFill>
                  <a:srgbClr val="BE123C"/>
                </a:solidFill>
              </a:rPr>
              <a:t>记忆模块</a:t>
            </a:r>
            <a:endParaRPr sz="1350" b="1">
              <a:solidFill>
                <a:srgbClr val="BE123C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71550" y="4648200"/>
            <a:ext cx="30607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存储简历 JSON、字段别名、失败案例和历史日志。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64579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655320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强调系统是观测-决策-执行-验证闭环。</a:t>
            </a:r>
            <a:endParaRPr sz="8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2385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网页多模态 Agent 开题汇报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85800"/>
            <a:ext cx="885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任务状态机与失败恢复机制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763250" y="495300"/>
            <a:ext cx="857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10</a:t>
            </a:r>
            <a:endParaRPr sz="2550" b="1">
              <a:solidFill>
                <a:srgbClr val="0F766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00100" y="156210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CCFBF1"/>
          </a:solidFill>
          <a:ln w="0">
            <a:solidFill>
              <a:srgbClr val="CCFB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16192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流程设计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2019300"/>
            <a:ext cx="1352550" cy="590550"/>
          </a:xfrm>
          <a:prstGeom prst="roundRect">
            <a:avLst>
              <a:gd name="adj" fmla="val 12903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71550" y="2200275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INIT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247900" y="2133600"/>
            <a:ext cx="114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4748B"/>
                </a:solidFill>
              </a:defRPr>
            </a:pPr>
            <a:r>
              <a:rPr sz="1950" b="1">
                <a:solidFill>
                  <a:srgbClr val="64748B"/>
                </a:solidFill>
              </a:rPr>
              <a:t>→</a:t>
            </a:r>
            <a:endParaRPr sz="1950" b="1">
              <a:solidFill>
                <a:srgbClr val="64748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2381250" y="2019300"/>
            <a:ext cx="1352550" cy="590550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 w="11430">
            <a:solidFill>
              <a:srgbClr val="1D4ED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476500" y="2200275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OBSERVE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752850" y="2133600"/>
            <a:ext cx="114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4748B"/>
                </a:solidFill>
              </a:defRPr>
            </a:pPr>
            <a:r>
              <a:rPr sz="1950" b="1">
                <a:solidFill>
                  <a:srgbClr val="64748B"/>
                </a:solidFill>
              </a:rPr>
              <a:t>→</a:t>
            </a:r>
            <a:endParaRPr sz="1950" b="1">
              <a:solidFill>
                <a:srgbClr val="64748B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3886200" y="2019300"/>
            <a:ext cx="1352550" cy="590550"/>
          </a:xfrm>
          <a:prstGeom prst="roundRect">
            <a:avLst>
              <a:gd name="adj" fmla="val 12903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981450" y="2200275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PLAN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257800" y="2133600"/>
            <a:ext cx="114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4748B"/>
                </a:solidFill>
              </a:defRPr>
            </a:pPr>
            <a:r>
              <a:rPr sz="1950" b="1">
                <a:solidFill>
                  <a:srgbClr val="64748B"/>
                </a:solidFill>
              </a:rPr>
              <a:t>→</a:t>
            </a:r>
            <a:endParaRPr sz="1950" b="1">
              <a:solidFill>
                <a:srgbClr val="64748B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5391150" y="2019300"/>
            <a:ext cx="1352550" cy="590550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 w="11430">
            <a:solidFill>
              <a:srgbClr val="1D4ED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486400" y="2200275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ACT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762750" y="2133600"/>
            <a:ext cx="114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4748B"/>
                </a:solidFill>
              </a:defRPr>
            </a:pPr>
            <a:r>
              <a:rPr sz="1950" b="1">
                <a:solidFill>
                  <a:srgbClr val="64748B"/>
                </a:solidFill>
              </a:rPr>
              <a:t>→</a:t>
            </a:r>
            <a:endParaRPr sz="1950" b="1">
              <a:solidFill>
                <a:srgbClr val="64748B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896100" y="2019300"/>
            <a:ext cx="1352550" cy="590550"/>
          </a:xfrm>
          <a:prstGeom prst="roundRect">
            <a:avLst>
              <a:gd name="adj" fmla="val 12903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991350" y="2200275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VERIFY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267700" y="2133600"/>
            <a:ext cx="114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4748B"/>
                </a:solidFill>
              </a:defRPr>
            </a:pPr>
            <a:r>
              <a:rPr sz="1950" b="1">
                <a:solidFill>
                  <a:srgbClr val="64748B"/>
                </a:solidFill>
              </a:rPr>
              <a:t>→</a:t>
            </a:r>
            <a:endParaRPr sz="1950" b="1">
              <a:solidFill>
                <a:srgbClr val="64748B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8401050" y="2019300"/>
            <a:ext cx="1352550" cy="590550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 w="11430">
            <a:solidFill>
              <a:srgbClr val="1D4ED8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496300" y="2200275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RECOVER / HITL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772650" y="2133600"/>
            <a:ext cx="114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4748B"/>
                </a:solidFill>
              </a:defRPr>
            </a:pPr>
            <a:r>
              <a:rPr sz="1950" b="1">
                <a:solidFill>
                  <a:srgbClr val="64748B"/>
                </a:solidFill>
              </a:rPr>
              <a:t>→</a:t>
            </a:r>
            <a:endParaRPr sz="1950" b="1">
              <a:solidFill>
                <a:srgbClr val="64748B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9906000" y="2019300"/>
            <a:ext cx="1352550" cy="590550"/>
          </a:xfrm>
          <a:prstGeom prst="roundRect">
            <a:avLst>
              <a:gd name="adj" fmla="val 12903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0001250" y="2200275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DONE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914400" y="327660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123950" y="3181350"/>
            <a:ext cx="9601200" cy="30213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点击失败后重截图并重新定位。</a:t>
            </a:r>
            <a:endParaRPr sz="1650" b="0">
              <a:solidFill>
                <a:srgbClr val="334155"/>
              </a:solidFill>
            </a:endParaR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914400" y="3712083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123950" y="3616833"/>
            <a:ext cx="9601200" cy="30213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页面异常跳转时回退到上一状态。</a:t>
            </a:r>
            <a:endParaRPr sz="1650" b="0">
              <a:solidFill>
                <a:srgbClr val="334155"/>
              </a:solidFill>
            </a:endParaRPr>
          </a:p>
        </p:txBody>
      </p:sp>
      <p:sp>
        <p:nvSpPr>
          <p:cNvPr id="35" name="椭圆 34"/>
          <p:cNvSpPr>
            <a:spLocks noGrp="1"/>
          </p:cNvSpPr>
          <p:nvPr/>
        </p:nvSpPr>
        <p:spPr>
          <a:xfrm>
            <a:off x="914400" y="4147566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123950" y="4052316"/>
            <a:ext cx="9601200" cy="30213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连续失败超过阈值后切换人工接管。</a:t>
            </a:r>
            <a:endParaRPr sz="1650" b="0">
              <a:solidFill>
                <a:srgbClr val="334155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09600" y="64579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09600" y="655320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体现工程成熟度和可恢复性。</a:t>
            </a:r>
            <a:endParaRPr sz="8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2385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网页多模态 Agent 开题汇报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85800"/>
            <a:ext cx="885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场景 A：开放网页信息检索与汇总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763250" y="495300"/>
            <a:ext cx="857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11</a:t>
            </a:r>
            <a:endParaRPr sz="2550" b="1">
              <a:solidFill>
                <a:srgbClr val="0F766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00100" y="156210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CCFBF1"/>
          </a:solidFill>
          <a:ln w="0">
            <a:solidFill>
              <a:srgbClr val="CCFB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16192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流程设计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2019300"/>
            <a:ext cx="2481263" cy="590550"/>
          </a:xfrm>
          <a:prstGeom prst="roundRect">
            <a:avLst>
              <a:gd name="adj" fmla="val 12903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71550" y="2200275"/>
            <a:ext cx="2290763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搜索官网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76613" y="2133600"/>
            <a:ext cx="114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4748B"/>
                </a:solidFill>
              </a:defRPr>
            </a:pPr>
            <a:r>
              <a:rPr sz="1950" b="1">
                <a:solidFill>
                  <a:srgbClr val="64748B"/>
                </a:solidFill>
              </a:rPr>
              <a:t>→</a:t>
            </a:r>
            <a:endParaRPr sz="1950" b="1">
              <a:solidFill>
                <a:srgbClr val="64748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3509963" y="2019300"/>
            <a:ext cx="2481263" cy="590550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 w="11430">
            <a:solidFill>
              <a:srgbClr val="1D4ED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605213" y="2200275"/>
            <a:ext cx="2290763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导航栏目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10275" y="2133600"/>
            <a:ext cx="114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4748B"/>
                </a:solidFill>
              </a:defRPr>
            </a:pPr>
            <a:r>
              <a:rPr sz="1950" b="1">
                <a:solidFill>
                  <a:srgbClr val="64748B"/>
                </a:solidFill>
              </a:rPr>
              <a:t>→</a:t>
            </a:r>
            <a:endParaRPr sz="1950" b="1">
              <a:solidFill>
                <a:srgbClr val="64748B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143625" y="2019300"/>
            <a:ext cx="2481263" cy="590550"/>
          </a:xfrm>
          <a:prstGeom prst="roundRect">
            <a:avLst>
              <a:gd name="adj" fmla="val 12903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238875" y="2200275"/>
            <a:ext cx="2290763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提取正文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43938" y="2133600"/>
            <a:ext cx="114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4748B"/>
                </a:solidFill>
              </a:defRPr>
            </a:pPr>
            <a:r>
              <a:rPr sz="1950" b="1">
                <a:solidFill>
                  <a:srgbClr val="64748B"/>
                </a:solidFill>
              </a:rPr>
              <a:t>→</a:t>
            </a:r>
            <a:endParaRPr sz="1950" b="1">
              <a:solidFill>
                <a:srgbClr val="64748B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777288" y="2019300"/>
            <a:ext cx="2481263" cy="590550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 w="11430">
            <a:solidFill>
              <a:srgbClr val="1D4ED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872538" y="2200275"/>
            <a:ext cx="2290763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汇总对比表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914400" y="327660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123950" y="3181350"/>
            <a:ext cx="9601200" cy="30213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输入示例：</a:t>
            </a:r>
            <a:r>
              <a:rPr lang="zh-CN" sz="1650" b="0">
                <a:solidFill>
                  <a:srgbClr val="334155"/>
                </a:solidFill>
              </a:rPr>
              <a:t>收集中山大学</a:t>
            </a:r>
            <a:r>
              <a:rPr sz="1650" b="0">
                <a:solidFill>
                  <a:srgbClr val="334155"/>
                </a:solidFill>
              </a:rPr>
              <a:t>的计算机考研招生信息。</a:t>
            </a:r>
            <a:endParaRPr sz="1650" b="0">
              <a:solidFill>
                <a:srgbClr val="334155"/>
              </a:solidFill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914400" y="3712083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123950" y="3616833"/>
            <a:ext cx="9601200" cy="30213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优势：风险低、结果直观，适合做主线演示。</a:t>
            </a:r>
            <a:endParaRPr sz="1650" b="0">
              <a:solidFill>
                <a:srgbClr val="334155"/>
              </a:solidFill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914400" y="4147566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123950" y="4052316"/>
            <a:ext cx="9601200" cy="30213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输出形式：结构化 Markdown 或表格化总结结果。</a:t>
            </a:r>
            <a:endParaRPr sz="1650" b="0">
              <a:solidFill>
                <a:srgbClr val="334155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64579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55320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适合作为答辩现场主演示。</a:t>
            </a:r>
            <a:endParaRPr sz="8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2385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网页多模态 Agent 开题汇报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85800"/>
            <a:ext cx="885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场景 B：基于知识库的表单填写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763250" y="495300"/>
            <a:ext cx="857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12</a:t>
            </a:r>
            <a:endParaRPr sz="2550" b="1">
              <a:solidFill>
                <a:srgbClr val="0F766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00100" y="156210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CCFBF1"/>
          </a:solidFill>
          <a:ln w="0">
            <a:solidFill>
              <a:srgbClr val="CCFB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16192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流程设计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2019300"/>
            <a:ext cx="1954530" cy="590550"/>
          </a:xfrm>
          <a:prstGeom prst="roundRect">
            <a:avLst>
              <a:gd name="adj" fmla="val 12903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71550" y="2200275"/>
            <a:ext cx="176403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扫描字段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849880" y="2133600"/>
            <a:ext cx="114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4748B"/>
                </a:solidFill>
              </a:defRPr>
            </a:pPr>
            <a:r>
              <a:rPr sz="1950" b="1">
                <a:solidFill>
                  <a:srgbClr val="64748B"/>
                </a:solidFill>
              </a:rPr>
              <a:t>→</a:t>
            </a:r>
            <a:endParaRPr sz="1950" b="1">
              <a:solidFill>
                <a:srgbClr val="64748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2983230" y="2019300"/>
            <a:ext cx="1954530" cy="590550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 w="11430">
            <a:solidFill>
              <a:srgbClr val="1D4ED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078480" y="2200275"/>
            <a:ext cx="176403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语义匹配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956810" y="2133600"/>
            <a:ext cx="114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4748B"/>
                </a:solidFill>
              </a:defRPr>
            </a:pPr>
            <a:r>
              <a:rPr sz="1950" b="1">
                <a:solidFill>
                  <a:srgbClr val="64748B"/>
                </a:solidFill>
              </a:rPr>
              <a:t>→</a:t>
            </a:r>
            <a:endParaRPr sz="1950" b="1">
              <a:solidFill>
                <a:srgbClr val="64748B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5090160" y="2019300"/>
            <a:ext cx="1954530" cy="590550"/>
          </a:xfrm>
          <a:prstGeom prst="roundRect">
            <a:avLst>
              <a:gd name="adj" fmla="val 12903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185410" y="2200275"/>
            <a:ext cx="176403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自动填写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063740" y="2133600"/>
            <a:ext cx="114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4748B"/>
                </a:solidFill>
              </a:defRPr>
            </a:pPr>
            <a:r>
              <a:rPr sz="1950" b="1">
                <a:solidFill>
                  <a:srgbClr val="64748B"/>
                </a:solidFill>
              </a:rPr>
              <a:t>→</a:t>
            </a:r>
            <a:endParaRPr sz="1950" b="1">
              <a:solidFill>
                <a:srgbClr val="64748B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197090" y="2019300"/>
            <a:ext cx="1954530" cy="590550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 w="11430">
            <a:solidFill>
              <a:srgbClr val="1D4ED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292340" y="2200275"/>
            <a:ext cx="176403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缺失字段提醒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70670" y="2133600"/>
            <a:ext cx="114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4748B"/>
                </a:solidFill>
              </a:defRPr>
            </a:pPr>
            <a:r>
              <a:rPr sz="1950" b="1">
                <a:solidFill>
                  <a:srgbClr val="64748B"/>
                </a:solidFill>
              </a:rPr>
              <a:t>→</a:t>
            </a:r>
            <a:endParaRPr sz="1950" b="1">
              <a:solidFill>
                <a:srgbClr val="64748B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9304020" y="2019300"/>
            <a:ext cx="1954530" cy="590550"/>
          </a:xfrm>
          <a:prstGeom prst="roundRect">
            <a:avLst>
              <a:gd name="adj" fmla="val 12903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399270" y="2200275"/>
            <a:ext cx="176403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提交前确认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914400" y="327660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123950" y="3181350"/>
            <a:ext cx="9601200" cy="30213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难点：不同网站字段命名差异大，页面布局不统一。</a:t>
            </a:r>
            <a:endParaRPr sz="1650" b="0">
              <a:solidFill>
                <a:srgbClr val="334155"/>
              </a:solidFill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914400" y="3712083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123950" y="3616833"/>
            <a:ext cx="9601200" cy="30213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解决：使用结构化简历 JSON 与字段别名映射实现语义匹配。</a:t>
            </a:r>
            <a:endParaRPr sz="1650" b="0">
              <a:solidFill>
                <a:srgbClr val="334155"/>
              </a:solidFill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914400" y="4147566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123950" y="4052316"/>
            <a:ext cx="9601200" cy="30213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亮点：最终提交前由 HITL 拦截，确保用户保留控制权。</a:t>
            </a:r>
            <a:endParaRPr sz="1650" b="0">
              <a:solidFill>
                <a:srgbClr val="334155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09600" y="64579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655320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这是系统亮点页，强调 Semantic Form Memory 与 HITL。</a:t>
            </a:r>
            <a:endParaRPr sz="8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2385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网页多模态 Agent 开题汇报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85800"/>
            <a:ext cx="885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场景 C：登录检测与人工接管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763250" y="495300"/>
            <a:ext cx="857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13</a:t>
            </a:r>
            <a:endParaRPr sz="2550" b="1">
              <a:solidFill>
                <a:srgbClr val="0F766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00100" y="156210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CCFBF1"/>
          </a:solidFill>
          <a:ln w="0">
            <a:solidFill>
              <a:srgbClr val="CCFB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16192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流程设计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2019300"/>
            <a:ext cx="2481263" cy="590550"/>
          </a:xfrm>
          <a:prstGeom prst="roundRect">
            <a:avLst>
              <a:gd name="adj" fmla="val 12903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71550" y="2200275"/>
            <a:ext cx="2290763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检测登录墙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76613" y="2133600"/>
            <a:ext cx="114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4748B"/>
                </a:solidFill>
              </a:defRPr>
            </a:pPr>
            <a:r>
              <a:rPr sz="1950" b="1">
                <a:solidFill>
                  <a:srgbClr val="64748B"/>
                </a:solidFill>
              </a:rPr>
              <a:t>→</a:t>
            </a:r>
            <a:endParaRPr sz="1950" b="1">
              <a:solidFill>
                <a:srgbClr val="64748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3509963" y="2019300"/>
            <a:ext cx="2481263" cy="590550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 w="11430">
            <a:solidFill>
              <a:srgbClr val="1D4ED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605213" y="2200275"/>
            <a:ext cx="2290763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暂停任务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10275" y="2133600"/>
            <a:ext cx="114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4748B"/>
                </a:solidFill>
              </a:defRPr>
            </a:pPr>
            <a:r>
              <a:rPr sz="1950" b="1">
                <a:solidFill>
                  <a:srgbClr val="64748B"/>
                </a:solidFill>
              </a:rPr>
              <a:t>→</a:t>
            </a:r>
            <a:endParaRPr sz="1950" b="1">
              <a:solidFill>
                <a:srgbClr val="64748B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143625" y="2019300"/>
            <a:ext cx="2481263" cy="590550"/>
          </a:xfrm>
          <a:prstGeom prst="roundRect">
            <a:avLst>
              <a:gd name="adj" fmla="val 12903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238875" y="2200275"/>
            <a:ext cx="2290763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用户登录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43938" y="2133600"/>
            <a:ext cx="114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4748B"/>
                </a:solidFill>
              </a:defRPr>
            </a:pPr>
            <a:r>
              <a:rPr sz="1950" b="1">
                <a:solidFill>
                  <a:srgbClr val="64748B"/>
                </a:solidFill>
              </a:rPr>
              <a:t>→</a:t>
            </a:r>
            <a:endParaRPr sz="1950" b="1">
              <a:solidFill>
                <a:srgbClr val="64748B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777288" y="2019300"/>
            <a:ext cx="2481263" cy="590550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 w="11430">
            <a:solidFill>
              <a:srgbClr val="1D4ED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872538" y="2200275"/>
            <a:ext cx="2290763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恢复执行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914400" y="327660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123950" y="3181350"/>
            <a:ext cx="9601200" cy="30213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系统不追求绕过登录，而是识别登录态并提示用户完成操作。</a:t>
            </a:r>
            <a:endParaRPr sz="1650" b="0">
              <a:solidFill>
                <a:srgbClr val="334155"/>
              </a:solidFill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914400" y="3712083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123950" y="3616833"/>
            <a:ext cx="9601200" cy="30213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登录完成后，Agent 恢复任务上下文继续执行。</a:t>
            </a:r>
            <a:endParaRPr sz="1650" b="0">
              <a:solidFill>
                <a:srgbClr val="334155"/>
              </a:solidFill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914400" y="4147566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123950" y="4052316"/>
            <a:ext cx="9601200" cy="30213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这样更贴近真实浏览器使用方式，也更安全可控。</a:t>
            </a:r>
            <a:endParaRPr sz="1650" b="0">
              <a:solidFill>
                <a:srgbClr val="334155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64579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55320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弱化绕过登录，强调识别与接管。</a:t>
            </a:r>
            <a:endParaRPr sz="8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2385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网页多模态 Agent 开题汇报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85800"/>
            <a:ext cx="885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模型选择与实现方案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763250" y="495300"/>
            <a:ext cx="857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14</a:t>
            </a:r>
            <a:endParaRPr sz="2550" b="1">
              <a:solidFill>
                <a:srgbClr val="0F766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00100" y="156210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CCFBF1"/>
          </a:solidFill>
          <a:ln w="0">
            <a:solidFill>
              <a:srgbClr val="CCFB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16192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重点模块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00100" y="2228850"/>
            <a:ext cx="3403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2228850"/>
            <a:ext cx="34036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24003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感知/动作模型</a:t>
            </a:r>
            <a:endParaRPr sz="1350" b="1">
              <a:solidFill>
                <a:srgbClr val="0F766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71550" y="2781300"/>
            <a:ext cx="30607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负责截图理解、元素定位和动作建议。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394200" y="2228850"/>
            <a:ext cx="3403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394200" y="2228850"/>
            <a:ext cx="3403600" cy="7620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565650" y="24003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文本模型</a:t>
            </a:r>
            <a:endParaRPr sz="1350" b="1">
              <a:solidFill>
                <a:srgbClr val="1D4ED8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65650" y="2781300"/>
            <a:ext cx="30607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负责任务拆解、字段匹配和结果总结。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988300" y="2228850"/>
            <a:ext cx="3403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988300" y="2228850"/>
            <a:ext cx="3403600" cy="7620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159750" y="24003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推荐方案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59750" y="2781300"/>
            <a:ext cx="30607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采用分层模型而非单一超大模型。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00100" y="4095750"/>
            <a:ext cx="3403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00100" y="4095750"/>
            <a:ext cx="3403600" cy="76200"/>
          </a:xfrm>
          <a:prstGeom prst="rect">
            <a:avLst/>
          </a:prstGeom>
          <a:solidFill>
            <a:srgbClr val="BE123C"/>
          </a:solidFill>
          <a:ln w="0">
            <a:solidFill>
              <a:srgbClr val="BE123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71550" y="42672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E123C"/>
                </a:solidFill>
              </a:defRPr>
            </a:pPr>
            <a:r>
              <a:rPr sz="1350" b="1">
                <a:solidFill>
                  <a:srgbClr val="BE123C"/>
                </a:solidFill>
              </a:rPr>
              <a:t>原因</a:t>
            </a:r>
            <a:endParaRPr sz="1350" b="1">
              <a:solidFill>
                <a:srgbClr val="BE123C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71550" y="4648200"/>
            <a:ext cx="30607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成本更低、响应更快、调试更方便，更适合课程实验。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64579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655320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若老师追问，强调效率和可维护性。</a:t>
            </a:r>
            <a:endParaRPr sz="8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2385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网页多模态 Agent 开题汇报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85800"/>
            <a:ext cx="885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初步数据集与实验设置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763250" y="495300"/>
            <a:ext cx="857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15</a:t>
            </a:r>
            <a:endParaRPr sz="2550" b="1">
              <a:solidFill>
                <a:srgbClr val="0F766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00100" y="156210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CCFBF1"/>
          </a:solidFill>
          <a:ln w="0">
            <a:solidFill>
              <a:srgbClr val="CCFB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16192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任务集构成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19150" y="2114550"/>
            <a:ext cx="24765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2114550"/>
            <a:ext cx="2476500" cy="8572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90600" y="2362200"/>
            <a:ext cx="2133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60</a:t>
            </a:r>
            <a:endParaRPr sz="2550" b="1">
              <a:solidFill>
                <a:srgbClr val="0F172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2800350"/>
            <a:ext cx="2133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总任务数</a:t>
            </a:r>
            <a:endParaRPr sz="1200" b="0">
              <a:solidFill>
                <a:srgbClr val="334155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90600" y="3105150"/>
            <a:ext cx="2133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自建课程实验集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3524250" y="2114550"/>
            <a:ext cx="24765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524250" y="2114550"/>
            <a:ext cx="2476500" cy="85725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695700" y="2362200"/>
            <a:ext cx="2133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20</a:t>
            </a:r>
            <a:endParaRPr sz="2550" b="1">
              <a:solidFill>
                <a:srgbClr val="0F172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695700" y="2800350"/>
            <a:ext cx="2133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开放网页任务</a:t>
            </a:r>
            <a:endParaRPr sz="1200" b="0">
              <a:solidFill>
                <a:srgbClr val="334155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695700" y="3105150"/>
            <a:ext cx="2133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信息检索与汇总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229350" y="2114550"/>
            <a:ext cx="24765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229350" y="2114550"/>
            <a:ext cx="2476500" cy="8572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400800" y="2362200"/>
            <a:ext cx="2133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20</a:t>
            </a:r>
            <a:endParaRPr sz="2550" b="1">
              <a:solidFill>
                <a:srgbClr val="0F172A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400800" y="2800350"/>
            <a:ext cx="2133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表单填写任务</a:t>
            </a:r>
            <a:endParaRPr sz="1200" b="0">
              <a:solidFill>
                <a:srgbClr val="334155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400800" y="3105150"/>
            <a:ext cx="2133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知识库驱动填写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8934450" y="2114550"/>
            <a:ext cx="24765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934450" y="2114550"/>
            <a:ext cx="2476500" cy="85725"/>
          </a:xfrm>
          <a:prstGeom prst="rect">
            <a:avLst/>
          </a:prstGeom>
          <a:solidFill>
            <a:srgbClr val="BE123C"/>
          </a:solidFill>
          <a:ln w="0">
            <a:solidFill>
              <a:srgbClr val="BE123C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105900" y="2362200"/>
            <a:ext cx="2133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20</a:t>
            </a:r>
            <a:endParaRPr sz="2550" b="1">
              <a:solidFill>
                <a:srgbClr val="0F172A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105900" y="2800350"/>
            <a:ext cx="2133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登录检测任务</a:t>
            </a:r>
            <a:endParaRPr sz="1200" b="0">
              <a:solidFill>
                <a:srgbClr val="334155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105900" y="3105150"/>
            <a:ext cx="2133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登录态识别与恢复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914400" y="409575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123950" y="4000500"/>
            <a:ext cx="9601200" cy="29013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每条任务记录指令、目标网站、预期结果、执行日志、成败与失败类型。</a:t>
            </a:r>
            <a:endParaRPr sz="1575" b="0">
              <a:solidFill>
                <a:srgbClr val="334155"/>
              </a:solidFill>
            </a:endParaR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914400" y="4519232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123950" y="4423982"/>
            <a:ext cx="9601200" cy="29013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设计思路参考 Mind2Web、WebVoyager 与 BrowserGym。</a:t>
            </a:r>
            <a:endParaRPr sz="1575" b="0">
              <a:solidFill>
                <a:srgbClr val="334155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64579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09600" y="655320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突出自建任务集和任务分层。</a:t>
            </a:r>
            <a:endParaRPr sz="8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2385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网页多模态 Agent 开题汇报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85800"/>
            <a:ext cx="885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评测指标与对照实验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763250" y="495300"/>
            <a:ext cx="857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16</a:t>
            </a:r>
            <a:endParaRPr sz="2550" b="1">
              <a:solidFill>
                <a:srgbClr val="0F766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00100" y="156210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CCFBF1"/>
          </a:solidFill>
          <a:ln w="0">
            <a:solidFill>
              <a:srgbClr val="CCFB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16192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重点模块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00100" y="2228850"/>
            <a:ext cx="34036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2228850"/>
            <a:ext cx="34036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24003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核心指标</a:t>
            </a:r>
            <a:endParaRPr sz="1350" b="1">
              <a:solidFill>
                <a:srgbClr val="0F766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71550" y="2781300"/>
            <a:ext cx="3060700" cy="169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任务完成率、平均耗时、平均步数、点击成功率、表单填写正确率、</a:t>
            </a:r>
            <a:endParaRPr sz="1350" b="0">
              <a:solidFill>
                <a:srgbClr val="334155"/>
              </a:solidFill>
            </a:endParaRPr>
          </a:p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HITL 触发准确率。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394200" y="2228850"/>
            <a:ext cx="34036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394200" y="2228850"/>
            <a:ext cx="3403600" cy="7620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565650" y="24003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对照方法</a:t>
            </a:r>
            <a:endParaRPr sz="1350" b="1">
              <a:solidFill>
                <a:srgbClr val="1D4ED8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65650" y="2781300"/>
            <a:ext cx="3060700" cy="169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Rule-based、Text-only、Vision-onl</a:t>
            </a:r>
            <a:endParaRPr sz="1350" b="0">
              <a:solidFill>
                <a:srgbClr val="334155"/>
              </a:solidFill>
            </a:endParaRPr>
          </a:p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y、Vision+DOM。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988300" y="2228850"/>
            <a:ext cx="34036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988300" y="2228850"/>
            <a:ext cx="3403600" cy="7620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159750" y="24003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研究目标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59750" y="2781300"/>
            <a:ext cx="3060700" cy="169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不仅比较能否完成任务，还比较完成代价与安全性。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9600" y="64579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09600" y="655320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体现方案的研究性和量化评估意识。</a:t>
            </a:r>
            <a:endParaRPr sz="8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2385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网页多模态 Agent 开题汇报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85800"/>
            <a:ext cx="885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预期结果、算力预算与时间计划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763250" y="495300"/>
            <a:ext cx="857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17</a:t>
            </a:r>
            <a:endParaRPr sz="2550" b="1">
              <a:solidFill>
                <a:srgbClr val="0F766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00100" y="156210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CCFBF1"/>
          </a:solidFill>
          <a:ln w="0">
            <a:solidFill>
              <a:srgbClr val="CCFB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16192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实施计划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81100" y="2476500"/>
            <a:ext cx="9715500" cy="3810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1085850" y="2381250"/>
            <a:ext cx="190500" cy="19050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2667000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第1周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95300" y="2914650"/>
            <a:ext cx="1371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文献调研与方案收缩</a:t>
            </a:r>
            <a:endParaRPr sz="1050" b="0">
              <a:solidFill>
                <a:srgbClr val="334155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3371850" y="2381250"/>
            <a:ext cx="190500" cy="19050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971800" y="2667000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第2周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781300" y="2914650"/>
            <a:ext cx="1371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插件框架与基础交互原型</a:t>
            </a:r>
            <a:endParaRPr sz="1050" b="0">
              <a:solidFill>
                <a:srgbClr val="334155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5657850" y="2381250"/>
            <a:ext cx="190500" cy="19050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257800" y="2667000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第3周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067300" y="2914650"/>
            <a:ext cx="1371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接入多模态模型，跑通主场景</a:t>
            </a:r>
            <a:endParaRPr sz="1050" b="0">
              <a:solidFill>
                <a:srgbClr val="334155"/>
              </a:solidFill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7943850" y="2381250"/>
            <a:ext cx="190500" cy="19050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543800" y="2667000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第4周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353300" y="2914650"/>
            <a:ext cx="1371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加入表单填写和 HITL</a:t>
            </a:r>
            <a:endParaRPr sz="1050" b="0">
              <a:solidFill>
                <a:srgbClr val="334155"/>
              </a:solidFill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10229850" y="2381250"/>
            <a:ext cx="190500" cy="19050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829800" y="2667000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第5周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639300" y="2914650"/>
            <a:ext cx="1371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完成实验、报告与答辩材料</a:t>
            </a:r>
            <a:endParaRPr sz="1050" b="0">
              <a:solidFill>
                <a:srgbClr val="334155"/>
              </a:solidFill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914400" y="459105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123950" y="4495800"/>
            <a:ext cx="9601200" cy="2781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本地需求：普通笔记本 + Chrome 浏览器。</a:t>
            </a:r>
            <a:endParaRPr sz="1500" b="0">
              <a:solidFill>
                <a:srgbClr val="334155"/>
              </a:solidFill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914400" y="500253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123950" y="4907280"/>
            <a:ext cx="9601200" cy="2781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云端预算：多模态 API，整体约 100 到 500 元。</a:t>
            </a:r>
            <a:endParaRPr sz="1500" b="0">
              <a:solidFill>
                <a:srgbClr val="334155"/>
              </a:solidFill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914400" y="541401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123950" y="5318760"/>
            <a:ext cx="9601200" cy="2781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预期交付：可运行原型、实验报告、答辩 PPT 与演示视频。</a:t>
            </a:r>
            <a:endParaRPr sz="1500" b="0">
              <a:solidFill>
                <a:srgbClr val="334155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09600" y="64579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655320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回答老师最关心的可行性问题。</a:t>
            </a:r>
            <a:endParaRPr sz="8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2385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网页多模态 Agent 开题汇报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85800"/>
            <a:ext cx="8858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风险分析与总结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763250" y="495300"/>
            <a:ext cx="857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18</a:t>
            </a:r>
            <a:endParaRPr sz="2550" b="1">
              <a:solidFill>
                <a:srgbClr val="0F766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00100" y="156210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CCFBF1"/>
          </a:solidFill>
          <a:ln w="0">
            <a:solidFill>
              <a:srgbClr val="CCFB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16192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重点模块</a:t>
            </a:r>
            <a:endParaRPr sz="975" b="1">
              <a:solidFill>
                <a:srgbClr val="0F766E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00100" y="2228850"/>
            <a:ext cx="34036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2228850"/>
            <a:ext cx="34036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24003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风险 1</a:t>
            </a:r>
            <a:endParaRPr sz="1350" b="1">
              <a:solidFill>
                <a:srgbClr val="0F766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71550" y="2781300"/>
            <a:ext cx="3060700" cy="169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网页变化快，现场演示可能不稳定。应对：选择稳定站点并准备备选视</a:t>
            </a:r>
            <a:endParaRPr sz="1350" b="0">
              <a:solidFill>
                <a:srgbClr val="334155"/>
              </a:solidFill>
            </a:endParaRPr>
          </a:p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频。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394200" y="2228850"/>
            <a:ext cx="34036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394200" y="2228850"/>
            <a:ext cx="3403600" cy="7620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565650" y="24003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风险 2</a:t>
            </a:r>
            <a:endParaRPr sz="1350" b="1">
              <a:solidFill>
                <a:srgbClr val="1D4ED8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65650" y="2781300"/>
            <a:ext cx="3060700" cy="169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视觉定位存在误差。应对：加入轻量 DOM 辅助与失败恢复机制。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988300" y="2228850"/>
            <a:ext cx="34036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988300" y="2228850"/>
            <a:ext cx="3403600" cy="7620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159750" y="2400300"/>
            <a:ext cx="306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风险 3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59750" y="2781300"/>
            <a:ext cx="3060700" cy="169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开发周期紧张。应对：优先保底两个核心场景。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9600" y="64579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09600" y="655320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收束全文，回到项目价值与预期贡献。</a:t>
            </a:r>
            <a:endParaRPr sz="82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3007</Words>
  <Application>WPS 演示</Application>
  <PresentationFormat>Converted Presentation</PresentationFormat>
  <Paragraphs>517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黄悦琪</cp:lastModifiedBy>
  <cp:revision>1</cp:revision>
  <dcterms:created xsi:type="dcterms:W3CDTF">2026-04-23T07:14:21Z</dcterms:created>
  <dcterms:modified xsi:type="dcterms:W3CDTF">2026-04-23T07:14:21Z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6ACE34541EF5406C922774E0C53E1682_12</vt:lpwstr>
  </property>
  <property fmtid="{D5CDD505-2E9C-101B-9397-08002B2CF9AE}" pid="3" name="KSOProductBuildVer">
    <vt:lpwstr>2052-12.1.0.23542</vt:lpwstr>
  </property>
</Properties>
</file>